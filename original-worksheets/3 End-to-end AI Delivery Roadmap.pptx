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u/0/d/1MqnpUljwMTZiMskR4RhtzEWDmA3MsvfQhnU_nR56IV0/edit" TargetMode="External"/><Relationship Id="rId4" Type="http://schemas.openxmlformats.org/officeDocument/2006/relationships/hyperlink" Target="https://docs.google.com/spreadsheets/u/0/d/1nm65_QsMDDhufMVPW1bnIoz4mOBqfRg_vLRZ7GTSFMg/edit" TargetMode="External"/><Relationship Id="rId10" Type="http://schemas.openxmlformats.org/officeDocument/2006/relationships/hyperlink" Target="https://www.linkedin.com/in/eddonner/" TargetMode="External"/><Relationship Id="rId9" Type="http://schemas.openxmlformats.org/officeDocument/2006/relationships/hyperlink" Target="https://docs.google.com/spreadsheets/u/0/d/1MqnpUljwMTZiMskR4RhtzEWDmA3MsvfQhnU_nR56IV0/edit" TargetMode="External"/><Relationship Id="rId5" Type="http://schemas.openxmlformats.org/officeDocument/2006/relationships/hyperlink" Target="https://docs.google.com/spreadsheets/u/0/d/1nm65_QsMDDhufMVPW1bnIoz4mOBqfRg_vLRZ7GTSFMg/edit" TargetMode="External"/><Relationship Id="rId6" Type="http://schemas.openxmlformats.org/officeDocument/2006/relationships/hyperlink" Target="https://docs.google.com/spreadsheets/u/0/d/1nm65_QsMDDhufMVPW1bnIoz4mOBqfRg_vLRZ7GTSFMg/edit" TargetMode="External"/><Relationship Id="rId7" Type="http://schemas.openxmlformats.org/officeDocument/2006/relationships/hyperlink" Target="https://docs.google.com/spreadsheets/u/0/d/1nm65_QsMDDhufMVPW1bnIoz4mOBqfRg_vLRZ7GTSFMg/edit" TargetMode="External"/><Relationship Id="rId8" Type="http://schemas.openxmlformats.org/officeDocument/2006/relationships/hyperlink" Target="https://docs.google.com/spreadsheets/u/0/d/1nm65_QsMDDhufMVPW1bnIoz4mOBqfRg_vLRZ7GTSFMg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972152"/>
            <a:ext cx="9144000" cy="540977"/>
            <a:chOff x="0" y="1009900"/>
            <a:chExt cx="9144000" cy="6348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LEADERSHIP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0" y="1555519"/>
            <a:ext cx="9144000" cy="540977"/>
            <a:chOff x="0" y="1009900"/>
            <a:chExt cx="9144000" cy="634800"/>
          </a:xfrm>
        </p:grpSpPr>
        <p:sp>
          <p:nvSpPr>
            <p:cNvPr id="58" name="Google Shape;58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DATA SCIENCE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0" y="2138886"/>
            <a:ext cx="9144000" cy="540977"/>
            <a:chOff x="0" y="1009900"/>
            <a:chExt cx="9144000" cy="6348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DATA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0" y="2722252"/>
            <a:ext cx="9144000" cy="540977"/>
            <a:chOff x="0" y="1009900"/>
            <a:chExt cx="9144000" cy="6348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PRODUCT &amp; ENGINEERING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0" y="3305619"/>
            <a:ext cx="9144000" cy="540977"/>
            <a:chOff x="0" y="1009900"/>
            <a:chExt cx="9144000" cy="6348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BUSINESS &amp; OPERATIONS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9" name="Google Shape;69;p13"/>
          <p:cNvGrpSpPr/>
          <p:nvPr/>
        </p:nvGrpSpPr>
        <p:grpSpPr>
          <a:xfrm>
            <a:off x="0" y="3888986"/>
            <a:ext cx="9144000" cy="540977"/>
            <a:chOff x="0" y="1009900"/>
            <a:chExt cx="9144000" cy="634800"/>
          </a:xfrm>
        </p:grpSpPr>
        <p:sp>
          <p:nvSpPr>
            <p:cNvPr id="70" name="Google Shape;70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INTERNAL END-USERS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72" name="Google Shape;72;p13"/>
          <p:cNvGrpSpPr/>
          <p:nvPr/>
        </p:nvGrpSpPr>
        <p:grpSpPr>
          <a:xfrm>
            <a:off x="0" y="4472352"/>
            <a:ext cx="9144000" cy="540977"/>
            <a:chOff x="0" y="1009900"/>
            <a:chExt cx="9144000" cy="634800"/>
          </a:xfrm>
        </p:grpSpPr>
        <p:sp>
          <p:nvSpPr>
            <p:cNvPr id="73" name="Google Shape;73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EXTERNAL END-USERS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75" name="Google Shape;75;p13"/>
          <p:cNvCxnSpPr/>
          <p:nvPr/>
        </p:nvCxnSpPr>
        <p:spPr>
          <a:xfrm>
            <a:off x="1796825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2934254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>
            <a:off x="4071683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5209113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>
            <a:off x="6346542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>
            <a:off x="7483971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/>
          <p:nvPr/>
        </p:nvCxnSpPr>
        <p:spPr>
          <a:xfrm>
            <a:off x="8621400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 txBox="1"/>
          <p:nvPr/>
        </p:nvSpPr>
        <p:spPr>
          <a:xfrm>
            <a:off x="1792688" y="405900"/>
            <a:ext cx="99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Business case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2979788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</a:t>
            </a:r>
            <a:r>
              <a:rPr lang="en-GB" sz="900">
                <a:solidFill>
                  <a:schemeClr val="dk2"/>
                </a:solidFill>
              </a:rPr>
              <a:t> 1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Plan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113738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</a:t>
            </a:r>
            <a:r>
              <a:rPr lang="en-GB" sz="900">
                <a:solidFill>
                  <a:schemeClr val="dk2"/>
                </a:solidFill>
              </a:rPr>
              <a:t> 2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Research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251176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3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Build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88613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4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Deploy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526026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5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Measure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858400" y="1030550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</a:t>
            </a:r>
            <a:r>
              <a:rPr lang="en-GB" sz="500"/>
              <a:t>Complete strategic </a:t>
            </a:r>
            <a:r>
              <a:rPr lang="en-GB" sz="500" u="sng">
                <a:solidFill>
                  <a:schemeClr val="hlink"/>
                </a:solidFill>
                <a:hlinkClick r:id="rId3"/>
              </a:rPr>
              <a:t>decision making template</a:t>
            </a:r>
            <a:r>
              <a:rPr lang="en-GB" sz="500"/>
              <a:t> &amp; approved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Approve budget, assigned stakeholders</a:t>
            </a:r>
            <a:endParaRPr sz="500"/>
          </a:p>
        </p:txBody>
      </p:sp>
      <p:sp>
        <p:nvSpPr>
          <p:cNvPr id="89" name="Google Shape;89;p13"/>
          <p:cNvSpPr/>
          <p:nvPr/>
        </p:nvSpPr>
        <p:spPr>
          <a:xfrm>
            <a:off x="3006313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</a:t>
            </a:r>
            <a:r>
              <a:rPr lang="en-GB" sz="500"/>
              <a:t>Approve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Governance meetings booked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resourcing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vendor selection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Agree to KPIs/metrics/ROI</a:t>
            </a:r>
            <a:endParaRPr sz="500"/>
          </a:p>
        </p:txBody>
      </p:sp>
      <p:sp>
        <p:nvSpPr>
          <p:cNvPr id="90" name="Google Shape;90;p13"/>
          <p:cNvSpPr/>
          <p:nvPr/>
        </p:nvSpPr>
        <p:spPr>
          <a:xfrm>
            <a:off x="3006300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KPIs / metrics</a:t>
            </a:r>
            <a:endParaRPr b="1" sz="500"/>
          </a:p>
        </p:txBody>
      </p:sp>
      <p:sp>
        <p:nvSpPr>
          <p:cNvPr id="91" name="Google Shape;91;p13"/>
          <p:cNvSpPr/>
          <p:nvPr/>
        </p:nvSpPr>
        <p:spPr>
          <a:xfrm>
            <a:off x="3006313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Data evaluation</a:t>
            </a:r>
            <a:endParaRPr b="1" sz="500"/>
          </a:p>
        </p:txBody>
      </p:sp>
      <p:sp>
        <p:nvSpPr>
          <p:cNvPr id="92" name="Google Shape;92;p13"/>
          <p:cNvSpPr/>
          <p:nvPr/>
        </p:nvSpPr>
        <p:spPr>
          <a:xfrm>
            <a:off x="3006300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Vendor selection</a:t>
            </a:r>
            <a:endParaRPr b="1" sz="500"/>
          </a:p>
        </p:txBody>
      </p:sp>
      <p:sp>
        <p:nvSpPr>
          <p:cNvPr id="93" name="Google Shape;93;p13"/>
          <p:cNvSpPr/>
          <p:nvPr/>
        </p:nvSpPr>
        <p:spPr>
          <a:xfrm>
            <a:off x="3006313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Change management plan</a:t>
            </a:r>
            <a:endParaRPr b="1" sz="500"/>
          </a:p>
        </p:txBody>
      </p:sp>
      <p:sp>
        <p:nvSpPr>
          <p:cNvPr id="94" name="Google Shape;94;p13"/>
          <p:cNvSpPr/>
          <p:nvPr/>
        </p:nvSpPr>
        <p:spPr>
          <a:xfrm>
            <a:off x="3006300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Received preliminary communications on vision, opportunity to ask Q&amp;A</a:t>
            </a:r>
            <a:br>
              <a:rPr lang="en-GB" sz="500"/>
            </a:br>
            <a:r>
              <a:rPr b="1" lang="en-GB" sz="500"/>
              <a:t>• Identify champions</a:t>
            </a:r>
            <a:endParaRPr b="1" sz="500"/>
          </a:p>
        </p:txBody>
      </p:sp>
      <p:sp>
        <p:nvSpPr>
          <p:cNvPr id="95" name="Google Shape;95;p13"/>
          <p:cNvSpPr/>
          <p:nvPr/>
        </p:nvSpPr>
        <p:spPr>
          <a:xfrm>
            <a:off x="3006313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Received preliminary communications on vision, opportunity to ask Q&amp;A</a:t>
            </a:r>
            <a:br>
              <a:rPr lang="en-GB" sz="500"/>
            </a:br>
            <a:r>
              <a:rPr b="1" lang="en-GB" sz="500"/>
              <a:t>• Identify early adopters</a:t>
            </a:r>
            <a:endParaRPr b="1" sz="500"/>
          </a:p>
        </p:txBody>
      </p:sp>
      <p:sp>
        <p:nvSpPr>
          <p:cNvPr id="96" name="Google Shape;96;p13"/>
          <p:cNvSpPr/>
          <p:nvPr/>
        </p:nvSpPr>
        <p:spPr>
          <a:xfrm>
            <a:off x="4143750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baseline KPIs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Confirm final plan post- 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user journeys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sz="500"/>
          </a:p>
        </p:txBody>
      </p:sp>
      <p:sp>
        <p:nvSpPr>
          <p:cNvPr id="97" name="Google Shape;97;p13"/>
          <p:cNvSpPr/>
          <p:nvPr/>
        </p:nvSpPr>
        <p:spPr>
          <a:xfrm>
            <a:off x="4143738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Confirm plan post-R&amp;D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Prototype model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Baseline model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Baseline metrics</a:t>
            </a:r>
            <a:endParaRPr sz="500"/>
          </a:p>
        </p:txBody>
      </p:sp>
      <p:sp>
        <p:nvSpPr>
          <p:cNvPr id="98" name="Google Shape;98;p13"/>
          <p:cNvSpPr/>
          <p:nvPr/>
        </p:nvSpPr>
        <p:spPr>
          <a:xfrm>
            <a:off x="4143750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curation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Sample test set</a:t>
            </a:r>
            <a:endParaRPr sz="500"/>
          </a:p>
        </p:txBody>
      </p:sp>
      <p:sp>
        <p:nvSpPr>
          <p:cNvPr id="99" name="Google Shape;99;p13"/>
          <p:cNvSpPr/>
          <p:nvPr/>
        </p:nvSpPr>
        <p:spPr>
          <a:xfrm>
            <a:off x="4143738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Architecture &amp; design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Integration architecture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journeys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Prototype</a:t>
            </a:r>
            <a:endParaRPr sz="500"/>
          </a:p>
        </p:txBody>
      </p:sp>
      <p:sp>
        <p:nvSpPr>
          <p:cNvPr id="100" name="Google Shape;100;p13"/>
          <p:cNvSpPr/>
          <p:nvPr/>
        </p:nvSpPr>
        <p:spPr>
          <a:xfrm>
            <a:off x="4143750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Agree to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Detailed use cases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Test planning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b="1" sz="500"/>
          </a:p>
        </p:txBody>
      </p:sp>
      <p:sp>
        <p:nvSpPr>
          <p:cNvPr id="101" name="Google Shape;101;p13"/>
          <p:cNvSpPr/>
          <p:nvPr/>
        </p:nvSpPr>
        <p:spPr>
          <a:xfrm>
            <a:off x="4143738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Understand and buy-in to the metrics</a:t>
            </a:r>
            <a:br>
              <a:rPr lang="en-GB" sz="500"/>
            </a:br>
            <a:r>
              <a:rPr lang="en-GB" sz="500"/>
              <a:t>• Champions review user journeys and prototypes</a:t>
            </a:r>
            <a:endParaRPr b="1" sz="500"/>
          </a:p>
        </p:txBody>
      </p:sp>
      <p:sp>
        <p:nvSpPr>
          <p:cNvPr id="102" name="Google Shape;102;p13"/>
          <p:cNvSpPr/>
          <p:nvPr/>
        </p:nvSpPr>
        <p:spPr>
          <a:xfrm>
            <a:off x="4143750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Early adopters review user journeys and prototypes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Ongoing communications</a:t>
            </a:r>
            <a:endParaRPr sz="500"/>
          </a:p>
        </p:txBody>
      </p:sp>
      <p:sp>
        <p:nvSpPr>
          <p:cNvPr id="103" name="Google Shape;103;p13"/>
          <p:cNvSpPr/>
          <p:nvPr/>
        </p:nvSpPr>
        <p:spPr>
          <a:xfrm>
            <a:off x="5281188" y="1033225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Make </a:t>
            </a:r>
            <a:r>
              <a:rPr lang="en-GB" sz="500" u="sng">
                <a:solidFill>
                  <a:schemeClr val="hlink"/>
                </a:solidFill>
                <a:hlinkClick r:id="rId4"/>
              </a:rPr>
              <a:t>decisions</a:t>
            </a:r>
            <a:r>
              <a:rPr lang="en-GB" sz="500"/>
              <a:t> as escalated by technical and business teams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Feedback on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</a:t>
            </a:r>
            <a:endParaRPr sz="500"/>
          </a:p>
        </p:txBody>
      </p:sp>
      <p:sp>
        <p:nvSpPr>
          <p:cNvPr id="104" name="Google Shape;104;p13"/>
          <p:cNvSpPr/>
          <p:nvPr/>
        </p:nvSpPr>
        <p:spPr>
          <a:xfrm>
            <a:off x="5281175" y="161657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Select &amp; train models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Calculate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5"/>
              </a:rPr>
              <a:t>decision</a:t>
            </a:r>
            <a:r>
              <a:rPr lang="en-GB" sz="500"/>
              <a:t> points</a:t>
            </a:r>
            <a:endParaRPr sz="500"/>
          </a:p>
        </p:txBody>
      </p:sp>
      <p:sp>
        <p:nvSpPr>
          <p:cNvPr id="105" name="Google Shape;105;p13"/>
          <p:cNvSpPr/>
          <p:nvPr/>
        </p:nvSpPr>
        <p:spPr>
          <a:xfrm>
            <a:off x="5281188" y="2199950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ingestion ETL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quantity, quality, completeness measures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6"/>
              </a:rPr>
              <a:t>decision</a:t>
            </a:r>
            <a:r>
              <a:rPr lang="en-GB" sz="500"/>
              <a:t> points</a:t>
            </a:r>
            <a:endParaRPr sz="500"/>
          </a:p>
        </p:txBody>
      </p:sp>
      <p:sp>
        <p:nvSpPr>
          <p:cNvPr id="106" name="Google Shape;106;p13"/>
          <p:cNvSpPr/>
          <p:nvPr/>
        </p:nvSpPr>
        <p:spPr>
          <a:xfrm>
            <a:off x="5281175" y="278331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engineering sprints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Demo every sprint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7"/>
              </a:rPr>
              <a:t>decision</a:t>
            </a:r>
            <a:r>
              <a:rPr lang="en-GB" sz="500"/>
              <a:t> points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Test plan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Support plan</a:t>
            </a:r>
            <a:endParaRPr sz="500"/>
          </a:p>
        </p:txBody>
      </p:sp>
      <p:sp>
        <p:nvSpPr>
          <p:cNvPr id="107" name="Google Shape;107;p13"/>
          <p:cNvSpPr/>
          <p:nvPr/>
        </p:nvSpPr>
        <p:spPr>
          <a:xfrm>
            <a:off x="5281188" y="3366688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Participate in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Collaborate on </a:t>
            </a:r>
            <a:r>
              <a:rPr lang="en-GB" sz="500" u="sng">
                <a:solidFill>
                  <a:schemeClr val="hlink"/>
                </a:solidFill>
                <a:hlinkClick r:id="rId8"/>
              </a:rPr>
              <a:t>decision</a:t>
            </a:r>
            <a:r>
              <a:rPr lang="en-GB" sz="500"/>
              <a:t> points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Test plan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Training plan</a:t>
            </a:r>
            <a:endParaRPr sz="500"/>
          </a:p>
        </p:txBody>
      </p:sp>
      <p:sp>
        <p:nvSpPr>
          <p:cNvPr id="108" name="Google Shape;108;p13"/>
          <p:cNvSpPr/>
          <p:nvPr/>
        </p:nvSpPr>
        <p:spPr>
          <a:xfrm>
            <a:off x="5281175" y="395006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see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see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Frequent broader comms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Test plan</a:t>
            </a:r>
            <a:endParaRPr sz="500"/>
          </a:p>
        </p:txBody>
      </p:sp>
      <p:sp>
        <p:nvSpPr>
          <p:cNvPr id="109" name="Google Shape;109;p13"/>
          <p:cNvSpPr/>
          <p:nvPr/>
        </p:nvSpPr>
        <p:spPr>
          <a:xfrm>
            <a:off x="5281188" y="453341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Early adopters see demos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see metrics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Beta test plan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Frequent broader comms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6418613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Sign-off on User Testing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Review go-live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Go/No-go decision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Communicate broadly</a:t>
            </a:r>
            <a:endParaRPr sz="500"/>
          </a:p>
        </p:txBody>
      </p:sp>
      <p:sp>
        <p:nvSpPr>
          <p:cNvPr id="111" name="Google Shape;111;p13"/>
          <p:cNvSpPr/>
          <p:nvPr/>
        </p:nvSpPr>
        <p:spPr>
          <a:xfrm>
            <a:off x="6418600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Internal Test then User Test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Productionize models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metrics</a:t>
            </a:r>
            <a:endParaRPr sz="500"/>
          </a:p>
        </p:txBody>
      </p:sp>
      <p:sp>
        <p:nvSpPr>
          <p:cNvPr id="112" name="Google Shape;112;p13"/>
          <p:cNvSpPr/>
          <p:nvPr/>
        </p:nvSpPr>
        <p:spPr>
          <a:xfrm>
            <a:off x="6418613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Implement test and production data ingestion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Support the test and production process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data metrics</a:t>
            </a:r>
            <a:endParaRPr sz="500"/>
          </a:p>
        </p:txBody>
      </p:sp>
      <p:sp>
        <p:nvSpPr>
          <p:cNvPr id="113" name="Google Shape;113;p13"/>
          <p:cNvSpPr/>
          <p:nvPr/>
        </p:nvSpPr>
        <p:spPr>
          <a:xfrm>
            <a:off x="6418600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system testing and user testing process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Present Go/No-go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Deploy to production</a:t>
            </a:r>
            <a:endParaRPr sz="500"/>
          </a:p>
        </p:txBody>
      </p:sp>
      <p:sp>
        <p:nvSpPr>
          <p:cNvPr id="114" name="Google Shape;114;p13"/>
          <p:cNvSpPr/>
          <p:nvPr/>
        </p:nvSpPr>
        <p:spPr>
          <a:xfrm>
            <a:off x="6418613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Sign-off internal test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user test phase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Achieve sign-off and go live</a:t>
            </a:r>
            <a:endParaRPr sz="500"/>
          </a:p>
        </p:txBody>
      </p:sp>
      <p:sp>
        <p:nvSpPr>
          <p:cNvPr id="115" name="Google Shape;115;p13"/>
          <p:cNvSpPr/>
          <p:nvPr/>
        </p:nvSpPr>
        <p:spPr>
          <a:xfrm>
            <a:off x="6418600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user test, sign-off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participate in training others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Rolled out</a:t>
            </a:r>
            <a:endParaRPr sz="500"/>
          </a:p>
        </p:txBody>
      </p:sp>
      <p:sp>
        <p:nvSpPr>
          <p:cNvPr id="116" name="Google Shape;116;p13"/>
          <p:cNvSpPr/>
          <p:nvPr/>
        </p:nvSpPr>
        <p:spPr>
          <a:xfrm>
            <a:off x="6418613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beta test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give testimonials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Rolled out</a:t>
            </a:r>
            <a:endParaRPr sz="500"/>
          </a:p>
        </p:txBody>
      </p:sp>
      <p:sp>
        <p:nvSpPr>
          <p:cNvPr id="117" name="Google Shape;117;p13"/>
          <p:cNvSpPr/>
          <p:nvPr/>
        </p:nvSpPr>
        <p:spPr>
          <a:xfrm>
            <a:off x="7586013" y="1033225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metrics/KPIs/ROI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feedback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Strategic </a:t>
            </a:r>
            <a:r>
              <a:rPr lang="en-GB" sz="500" u="sng">
                <a:solidFill>
                  <a:schemeClr val="hlink"/>
                </a:solidFill>
                <a:hlinkClick r:id="rId9"/>
              </a:rPr>
              <a:t>decision making template</a:t>
            </a:r>
            <a:r>
              <a:rPr lang="en-GB" sz="500">
                <a:solidFill>
                  <a:schemeClr val="dk1"/>
                </a:solidFill>
              </a:rPr>
              <a:t> for next iteration</a:t>
            </a:r>
            <a:endParaRPr sz="500"/>
          </a:p>
        </p:txBody>
      </p:sp>
      <p:sp>
        <p:nvSpPr>
          <p:cNvPr id="118" name="Google Shape;118;p13"/>
          <p:cNvSpPr/>
          <p:nvPr/>
        </p:nvSpPr>
        <p:spPr>
          <a:xfrm>
            <a:off x="7586000" y="161657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model performance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feedback</a:t>
            </a:r>
            <a:endParaRPr sz="500"/>
          </a:p>
        </p:txBody>
      </p:sp>
      <p:sp>
        <p:nvSpPr>
          <p:cNvPr id="119" name="Google Shape;119;p13"/>
          <p:cNvSpPr/>
          <p:nvPr/>
        </p:nvSpPr>
        <p:spPr>
          <a:xfrm>
            <a:off x="7586013" y="2199950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data ingest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data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data feedback</a:t>
            </a:r>
            <a:endParaRPr sz="500"/>
          </a:p>
        </p:txBody>
      </p:sp>
      <p:sp>
        <p:nvSpPr>
          <p:cNvPr id="120" name="Google Shape;120;p13"/>
          <p:cNvSpPr/>
          <p:nvPr/>
        </p:nvSpPr>
        <p:spPr>
          <a:xfrm>
            <a:off x="7586000" y="278331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support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system performance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Fix defects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Report usage</a:t>
            </a:r>
            <a:endParaRPr sz="500"/>
          </a:p>
        </p:txBody>
      </p:sp>
      <p:sp>
        <p:nvSpPr>
          <p:cNvPr id="121" name="Google Shape;121;p13"/>
          <p:cNvSpPr/>
          <p:nvPr/>
        </p:nvSpPr>
        <p:spPr>
          <a:xfrm>
            <a:off x="7586013" y="3366688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business support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model feedback</a:t>
            </a:r>
            <a:endParaRPr sz="500"/>
          </a:p>
        </p:txBody>
      </p:sp>
      <p:sp>
        <p:nvSpPr>
          <p:cNvPr id="122" name="Google Shape;122;p13"/>
          <p:cNvSpPr/>
          <p:nvPr/>
        </p:nvSpPr>
        <p:spPr>
          <a:xfrm>
            <a:off x="7586000" y="395006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train others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Adoption is tracked and reported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feedback</a:t>
            </a:r>
            <a:endParaRPr sz="500"/>
          </a:p>
        </p:txBody>
      </p:sp>
      <p:sp>
        <p:nvSpPr>
          <p:cNvPr id="123" name="Google Shape;123;p13"/>
          <p:cNvSpPr/>
          <p:nvPr/>
        </p:nvSpPr>
        <p:spPr>
          <a:xfrm>
            <a:off x="7586013" y="453341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train others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Usage is tracked and reported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Provide feedback</a:t>
            </a:r>
            <a:endParaRPr sz="500"/>
          </a:p>
        </p:txBody>
      </p:sp>
      <p:cxnSp>
        <p:nvCxnSpPr>
          <p:cNvPr id="124" name="Google Shape;124;p13"/>
          <p:cNvCxnSpPr/>
          <p:nvPr/>
        </p:nvCxnSpPr>
        <p:spPr>
          <a:xfrm>
            <a:off x="8947006" y="264714"/>
            <a:ext cx="0" cy="382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2935675" y="270200"/>
            <a:ext cx="6019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2934250" y="264728"/>
            <a:ext cx="0" cy="209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" name="Google Shape;127;p13"/>
          <p:cNvSpPr txBox="1"/>
          <p:nvPr/>
        </p:nvSpPr>
        <p:spPr>
          <a:xfrm>
            <a:off x="25525" y="20800"/>
            <a:ext cx="30888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</a:rPr>
              <a:t>End-to-End AI Delivery Roadmap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3829325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31</a:t>
            </a:r>
            <a:r>
              <a:rPr lang="en-GB" sz="500">
                <a:solidFill>
                  <a:schemeClr val="lt1"/>
                </a:solidFill>
              </a:rPr>
              <a:t>-Oct-2025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46950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30-Sep-2025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971963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30-Nov-2025</a:t>
            </a:r>
            <a:endParaRPr i="1" sz="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6109388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31-Dec-2025</a:t>
            </a:r>
            <a:endParaRPr i="1" sz="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7246813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31-Jan-2026 </a:t>
            </a: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334388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28</a:t>
            </a:r>
            <a:r>
              <a:rPr lang="en-GB" sz="500">
                <a:solidFill>
                  <a:schemeClr val="lt1"/>
                </a:solidFill>
              </a:rPr>
              <a:t>-Feb-2026 </a:t>
            </a: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sz="500">
              <a:solidFill>
                <a:schemeClr val="lt1"/>
              </a:solidFill>
            </a:endParaRPr>
          </a:p>
        </p:txBody>
      </p:sp>
      <p:cxnSp>
        <p:nvCxnSpPr>
          <p:cNvPr id="134" name="Google Shape;134;p13"/>
          <p:cNvCxnSpPr>
            <a:endCxn id="133" idx="3"/>
          </p:cNvCxnSpPr>
          <p:nvPr/>
        </p:nvCxnSpPr>
        <p:spPr>
          <a:xfrm rot="10800000">
            <a:off x="8808688" y="652597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30950" y="207550"/>
            <a:ext cx="29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2"/>
                </a:solidFill>
              </a:rPr>
              <a:t>Each box shows deliverables for that phase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2"/>
                </a:solidFill>
              </a:rPr>
              <a:t>Please </a:t>
            </a:r>
            <a:r>
              <a:rPr lang="en-GB" sz="700" u="sng">
                <a:solidFill>
                  <a:schemeClr val="hlink"/>
                </a:solidFill>
                <a:hlinkClick r:id="rId10"/>
              </a:rPr>
              <a:t>message me</a:t>
            </a:r>
            <a:r>
              <a:rPr lang="en-GB" sz="700">
                <a:solidFill>
                  <a:schemeClr val="dk2"/>
                </a:solidFill>
              </a:rPr>
              <a:t> with change ideas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